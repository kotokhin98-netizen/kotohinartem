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0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4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5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7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2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0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Лидирующий снимок представления сетей с пределами клюшки.">
            <a:extLst>
              <a:ext uri="{FF2B5EF4-FFF2-40B4-BE49-F238E27FC236}">
                <a16:creationId xmlns:a16="http://schemas.microsoft.com/office/drawing/2014/main" id="{71F00BB0-2671-EC3F-6557-953290090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19" b="369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DC131-34F7-4C4C-A89C-46E0171F1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5100" b="1" dirty="0"/>
              <a:t>Организация технической поддержки пользователей</a:t>
            </a:r>
            <a:br>
              <a:rPr lang="ru-RU" sz="5100" b="1" dirty="0"/>
            </a:br>
            <a:endParaRPr lang="ru-RU" sz="5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544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AD8B0-E3C1-4228-9997-5D08ED71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01" y="-179435"/>
            <a:ext cx="11155680" cy="1463040"/>
          </a:xfrm>
        </p:spPr>
        <p:txBody>
          <a:bodyPr/>
          <a:lstStyle/>
          <a:p>
            <a:r>
              <a:rPr lang="ru-RU" dirty="0"/>
              <a:t>ITIL 4: Эволюция от процессов к ценностям</a:t>
            </a:r>
          </a:p>
        </p:txBody>
      </p:sp>
      <p:pic>
        <p:nvPicPr>
          <p:cNvPr id="1026" name="Picture 2" descr="ITIL 4: как практики создают ценность для бизнеса">
            <a:extLst>
              <a:ext uri="{FF2B5EF4-FFF2-40B4-BE49-F238E27FC236}">
                <a16:creationId xmlns:a16="http://schemas.microsoft.com/office/drawing/2014/main" id="{0D67FE4F-E0DD-415B-9D7F-316A769BAD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65" y="1199988"/>
            <a:ext cx="7189962" cy="431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0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D12DF-F1CD-41B9-8708-BE8EDBF4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12" y="-181944"/>
            <a:ext cx="11155680" cy="146304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ISO/IEC 20000-1: Стандарт для аудита и сертификации</a:t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ISO 20000: обзор стандарта, особенности сертификации">
            <a:extLst>
              <a:ext uri="{FF2B5EF4-FFF2-40B4-BE49-F238E27FC236}">
                <a16:creationId xmlns:a16="http://schemas.microsoft.com/office/drawing/2014/main" id="{C90135BD-B3E3-4DF1-BEAE-0BB7B61064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15" y="1359816"/>
            <a:ext cx="6280444" cy="477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52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D542E-7355-4A30-B5FF-2EAE4E7C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56" y="764652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Сравнение и синергия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989C471-0128-48ED-A29A-82F06BFA3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74330"/>
              </p:ext>
            </p:extLst>
          </p:nvPr>
        </p:nvGraphicFramePr>
        <p:xfrm>
          <a:off x="327520" y="1898389"/>
          <a:ext cx="11156949" cy="210312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1324777802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753568510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727192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ITIL 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5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ISO/IEC 20000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5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05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4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64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</a:rPr>
                        <a:t>Тип</a:t>
                      </a:r>
                      <a:endParaRPr lang="ru-RU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Фреймворк лучших практик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Стандарт требований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4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04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3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</a:rPr>
                        <a:t>Гибкость</a:t>
                      </a:r>
                      <a:endParaRPr lang="ru-RU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Высокая, адаптивная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Жесткая, регламентированная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830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</a:rPr>
                        <a:t>Сертификация</a:t>
                      </a:r>
                      <a:endParaRPr lang="ru-RU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Нет (только обучение сотрудников)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Да (сертификация организации)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5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586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</a:rPr>
                        <a:t>Цель</a:t>
                      </a:r>
                      <a:endParaRPr lang="ru-RU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tx1"/>
                          </a:solidFill>
                          <a:effectLst/>
                        </a:rPr>
                        <a:t>Улучшение качества и эффективности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tx1"/>
                          </a:solidFill>
                          <a:effectLst/>
                        </a:rPr>
                        <a:t>Доказательство соответствия и надежности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3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03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5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58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66732-3564-4A86-84BA-E0201711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97" y="-149748"/>
            <a:ext cx="11155680" cy="1463040"/>
          </a:xfrm>
        </p:spPr>
        <p:txBody>
          <a:bodyPr/>
          <a:lstStyle/>
          <a:p>
            <a:pPr algn="ctr"/>
            <a:r>
              <a:rPr lang="ru-RU" dirty="0"/>
              <a:t>Практическое применение: Построение службы поддержки</a:t>
            </a:r>
          </a:p>
        </p:txBody>
      </p:sp>
      <p:pic>
        <p:nvPicPr>
          <p:cNvPr id="4098" name="Picture 2" descr="ITSM, DevOps, и почему трехуровневая поддержка должна быть заменена на  Swarming – Digital Enterprise">
            <a:extLst>
              <a:ext uri="{FF2B5EF4-FFF2-40B4-BE49-F238E27FC236}">
                <a16:creationId xmlns:a16="http://schemas.microsoft.com/office/drawing/2014/main" id="{111D0127-225F-4EEE-B6FE-047DC64E5D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476" y="2638447"/>
            <a:ext cx="7619048" cy="317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C01007-C2CC-4990-BA38-2ABF7EFA6B9A}"/>
              </a:ext>
            </a:extLst>
          </p:cNvPr>
          <p:cNvSpPr/>
          <p:nvPr/>
        </p:nvSpPr>
        <p:spPr>
          <a:xfrm>
            <a:off x="598397" y="1609524"/>
            <a:ext cx="11379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Структура службы поддержки (Многоуровневая модель)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023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C473B-F2E6-457C-8067-02B90512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28" y="74105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ru-RU" sz="3600" b="0" dirty="0"/>
              <a:t>Ключевые процессы на практике</a:t>
            </a:r>
          </a:p>
        </p:txBody>
      </p:sp>
      <p:pic>
        <p:nvPicPr>
          <p:cNvPr id="5122" name="Picture 2" descr="Инцидентное управление в IT">
            <a:extLst>
              <a:ext uri="{FF2B5EF4-FFF2-40B4-BE49-F238E27FC236}">
                <a16:creationId xmlns:a16="http://schemas.microsoft.com/office/drawing/2014/main" id="{7CE79376-07A0-45DD-899B-D719E2E233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13" y="2018557"/>
            <a:ext cx="3320446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6F971A-037C-43A7-A76A-EC407587153B}"/>
              </a:ext>
            </a:extLst>
          </p:cNvPr>
          <p:cNvSpPr/>
          <p:nvPr/>
        </p:nvSpPr>
        <p:spPr>
          <a:xfrm>
            <a:off x="466128" y="1543830"/>
            <a:ext cx="2806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инцидентами </a:t>
            </a:r>
            <a:endParaRPr lang="ru-RU" dirty="0"/>
          </a:p>
        </p:txBody>
      </p:sp>
      <p:pic>
        <p:nvPicPr>
          <p:cNvPr id="5124" name="Picture 4" descr="Управление запросами: Назначенная задача">
            <a:extLst>
              <a:ext uri="{FF2B5EF4-FFF2-40B4-BE49-F238E27FC236}">
                <a16:creationId xmlns:a16="http://schemas.microsoft.com/office/drawing/2014/main" id="{C87F7E7C-742C-4032-A2AE-3799E8B3E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282" y="1979406"/>
            <a:ext cx="184785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FAF5C4-569F-4B2C-AEDC-3ACE3F6599F8}"/>
              </a:ext>
            </a:extLst>
          </p:cNvPr>
          <p:cNvSpPr/>
          <p:nvPr/>
        </p:nvSpPr>
        <p:spPr>
          <a:xfrm>
            <a:off x="3947587" y="1554597"/>
            <a:ext cx="2522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запросами </a:t>
            </a:r>
            <a:endParaRPr lang="ru-RU" dirty="0"/>
          </a:p>
        </p:txBody>
      </p:sp>
      <p:pic>
        <p:nvPicPr>
          <p:cNvPr id="5126" name="Picture 6" descr="Тема 7. Управление проблемами">
            <a:extLst>
              <a:ext uri="{FF2B5EF4-FFF2-40B4-BE49-F238E27FC236}">
                <a16:creationId xmlns:a16="http://schemas.microsoft.com/office/drawing/2014/main" id="{20B24456-C8CF-4F81-9412-AF79D5BEF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75" y="2259575"/>
            <a:ext cx="4892333" cy="189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962325-0C60-4EB4-B9B9-C5573AC229A7}"/>
              </a:ext>
            </a:extLst>
          </p:cNvPr>
          <p:cNvSpPr/>
          <p:nvPr/>
        </p:nvSpPr>
        <p:spPr>
          <a:xfrm>
            <a:off x="7975525" y="1610074"/>
            <a:ext cx="272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проблемами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130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5E681-569E-47D3-9235-8F9030E9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67" y="-114122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Инструментарий (ITSM-системы)</a:t>
            </a:r>
          </a:p>
        </p:txBody>
      </p:sp>
      <p:pic>
        <p:nvPicPr>
          <p:cNvPr id="6148" name="Picture 4" descr="Jira Service Desk | ПО для службы ИТ-поддержки и ITSM | Atlassian">
            <a:extLst>
              <a:ext uri="{FF2B5EF4-FFF2-40B4-BE49-F238E27FC236}">
                <a16:creationId xmlns:a16="http://schemas.microsoft.com/office/drawing/2014/main" id="{0F0816A5-AA62-4E0E-BE3F-F14DC5ACE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05" y="1520304"/>
            <a:ext cx="3686793" cy="207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ED2368-388B-4FD4-9C67-1382300C86AB}"/>
              </a:ext>
            </a:extLst>
          </p:cNvPr>
          <p:cNvSpPr/>
          <p:nvPr/>
        </p:nvSpPr>
        <p:spPr>
          <a:xfrm>
            <a:off x="1301021" y="979586"/>
            <a:ext cx="2536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Jira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Management</a:t>
            </a:r>
            <a:endParaRPr lang="ru-RU" dirty="0"/>
          </a:p>
        </p:txBody>
      </p:sp>
      <p:pic>
        <p:nvPicPr>
          <p:cNvPr id="6152" name="Picture 8" descr="ServiceNow Integration with Service Management Software">
            <a:extLst>
              <a:ext uri="{FF2B5EF4-FFF2-40B4-BE49-F238E27FC236}">
                <a16:creationId xmlns:a16="http://schemas.microsoft.com/office/drawing/2014/main" id="{C74061B9-A840-4E95-BAED-2D0726EB4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67" y="4105562"/>
            <a:ext cx="4058825" cy="26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1EB6FB-43A7-42A4-AEA3-989139587A94}"/>
              </a:ext>
            </a:extLst>
          </p:cNvPr>
          <p:cNvSpPr/>
          <p:nvPr/>
        </p:nvSpPr>
        <p:spPr>
          <a:xfrm>
            <a:off x="1843821" y="3665902"/>
            <a:ext cx="1293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ServiceNow</a:t>
            </a:r>
            <a:endParaRPr lang="ru-RU" dirty="0"/>
          </a:p>
        </p:txBody>
      </p:sp>
      <p:pic>
        <p:nvPicPr>
          <p:cNvPr id="6154" name="Picture 10" descr="osTicket Reviews, Cost &amp; Features | GetApp Australia 2026">
            <a:extLst>
              <a:ext uri="{FF2B5EF4-FFF2-40B4-BE49-F238E27FC236}">
                <a16:creationId xmlns:a16="http://schemas.microsoft.com/office/drawing/2014/main" id="{BB5457B4-BEB7-430C-9FF1-35833606A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584" y="1340332"/>
            <a:ext cx="4111718" cy="256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B214C9-6890-4A06-9269-B62790940C75}"/>
              </a:ext>
            </a:extLst>
          </p:cNvPr>
          <p:cNvSpPr/>
          <p:nvPr/>
        </p:nvSpPr>
        <p:spPr>
          <a:xfrm>
            <a:off x="5949045" y="855785"/>
            <a:ext cx="3179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Source</a:t>
            </a:r>
            <a:r>
              <a:rPr lang="ru-RU" dirty="0"/>
              <a:t> решения</a:t>
            </a:r>
            <a:r>
              <a:rPr lang="en-US" dirty="0"/>
              <a:t>: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osTicket</a:t>
            </a:r>
            <a:endParaRPr lang="ru-RU" dirty="0"/>
          </a:p>
        </p:txBody>
      </p:sp>
      <p:pic>
        <p:nvPicPr>
          <p:cNvPr id="6156" name="Picture 12" descr="Что нового в Naumen Service Desk 4.9: релиз продукта">
            <a:extLst>
              <a:ext uri="{FF2B5EF4-FFF2-40B4-BE49-F238E27FC236}">
                <a16:creationId xmlns:a16="http://schemas.microsoft.com/office/drawing/2014/main" id="{1AB75BE4-CA6A-4352-BE29-4AECEBEA3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370" y="4592789"/>
            <a:ext cx="4111718" cy="203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B704AA-91CC-41E9-894E-11DBDD5D4EDE}"/>
              </a:ext>
            </a:extLst>
          </p:cNvPr>
          <p:cNvSpPr/>
          <p:nvPr/>
        </p:nvSpPr>
        <p:spPr>
          <a:xfrm>
            <a:off x="6005113" y="4099656"/>
            <a:ext cx="3161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Российские решения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Naumen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880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41269-DFA2-4B73-AD32-0372DFA3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379" y="-149748"/>
            <a:ext cx="11155680" cy="1463040"/>
          </a:xfrm>
        </p:spPr>
        <p:txBody>
          <a:bodyPr/>
          <a:lstStyle/>
          <a:p>
            <a:r>
              <a:rPr lang="ru-RU" dirty="0"/>
              <a:t>Метрики эффективности (</a:t>
            </a:r>
            <a:r>
              <a:rPr lang="ru-RU" dirty="0" err="1"/>
              <a:t>KPIs</a:t>
            </a:r>
            <a:r>
              <a:rPr lang="ru-RU" dirty="0"/>
              <a:t>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F85B2F-93E2-41EA-8060-8B951F9AC979}"/>
              </a:ext>
            </a:extLst>
          </p:cNvPr>
          <p:cNvSpPr/>
          <p:nvPr/>
        </p:nvSpPr>
        <p:spPr>
          <a:xfrm>
            <a:off x="552366" y="875936"/>
            <a:ext cx="3144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MTTR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498B892-40F3-45A0-BAB5-C3EE0CF3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56" y="1249433"/>
            <a:ext cx="3753853" cy="211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B88588-66B2-4959-A1E4-D01CBFCECE4F}"/>
              </a:ext>
            </a:extLst>
          </p:cNvPr>
          <p:cNvSpPr/>
          <p:nvPr/>
        </p:nvSpPr>
        <p:spPr>
          <a:xfrm>
            <a:off x="4840897" y="875936"/>
            <a:ext cx="2956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FCR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pic>
        <p:nvPicPr>
          <p:cNvPr id="7172" name="Picture 4" descr="First Contact Resolution? – Definition, Formula and Best Practices">
            <a:extLst>
              <a:ext uri="{FF2B5EF4-FFF2-40B4-BE49-F238E27FC236}">
                <a16:creationId xmlns:a16="http://schemas.microsoft.com/office/drawing/2014/main" id="{8B651215-D0EE-4F22-B8C6-D57BB293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077" y="1339019"/>
            <a:ext cx="3399422" cy="233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Использование опросов для определения Customer Satisfaction Score (CSAT) /  Хабр">
            <a:extLst>
              <a:ext uri="{FF2B5EF4-FFF2-40B4-BE49-F238E27FC236}">
                <a16:creationId xmlns:a16="http://schemas.microsoft.com/office/drawing/2014/main" id="{1403989D-71E8-446D-BE7E-FCCF34B8A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4" y="4760157"/>
            <a:ext cx="5081783" cy="168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EA1E9C-7FED-49CD-9913-EAF04408A108}"/>
              </a:ext>
            </a:extLst>
          </p:cNvPr>
          <p:cNvSpPr/>
          <p:nvPr/>
        </p:nvSpPr>
        <p:spPr>
          <a:xfrm>
            <a:off x="1193807" y="4264511"/>
            <a:ext cx="3559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CSAT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Satisfaction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endParaRPr lang="ru-RU" dirty="0"/>
          </a:p>
        </p:txBody>
      </p:sp>
      <p:pic>
        <p:nvPicPr>
          <p:cNvPr id="7176" name="Picture 8" descr="Backlog Size">
            <a:extLst>
              <a:ext uri="{FF2B5EF4-FFF2-40B4-BE49-F238E27FC236}">
                <a16:creationId xmlns:a16="http://schemas.microsoft.com/office/drawing/2014/main" id="{87D8BA80-9B88-4CCF-A369-0174EDC64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44" y="4620431"/>
            <a:ext cx="3136232" cy="19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3712F2-F066-4117-BCCF-46DE35D4C038}"/>
              </a:ext>
            </a:extLst>
          </p:cNvPr>
          <p:cNvSpPr/>
          <p:nvPr/>
        </p:nvSpPr>
        <p:spPr>
          <a:xfrm>
            <a:off x="6864772" y="4183075"/>
            <a:ext cx="1381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Backlog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dirty="0"/>
          </a:p>
        </p:txBody>
      </p:sp>
      <p:pic>
        <p:nvPicPr>
          <p:cNvPr id="7178" name="Picture 10" descr="SLA Compliance: Meeting Service Level Agreements with Precision">
            <a:extLst>
              <a:ext uri="{FF2B5EF4-FFF2-40B4-BE49-F238E27FC236}">
                <a16:creationId xmlns:a16="http://schemas.microsoft.com/office/drawing/2014/main" id="{DA29BE7A-495E-4126-9126-154E4E57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73" y="1726466"/>
            <a:ext cx="3863682" cy="15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3A72990-9764-48FE-8A84-A2113A84216C}"/>
              </a:ext>
            </a:extLst>
          </p:cNvPr>
          <p:cNvSpPr/>
          <p:nvPr/>
        </p:nvSpPr>
        <p:spPr>
          <a:xfrm>
            <a:off x="9197090" y="1311016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SLA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17954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</Words>
  <Application>Microsoft Office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Bierstadt</vt:lpstr>
      <vt:lpstr>Calibri</vt:lpstr>
      <vt:lpstr>Neue Haas Grotesk Text Pro</vt:lpstr>
      <vt:lpstr>GestaltVTI</vt:lpstr>
      <vt:lpstr>Организация технической поддержки пользователей </vt:lpstr>
      <vt:lpstr>ITIL 4: Эволюция от процессов к ценностям</vt:lpstr>
      <vt:lpstr>ISO/IEC 20000-1: Стандарт для аудита и сертификации </vt:lpstr>
      <vt:lpstr>Сравнение и синергия</vt:lpstr>
      <vt:lpstr>Практическое применение: Построение службы поддержки</vt:lpstr>
      <vt:lpstr>Ключевые процессы на практике</vt:lpstr>
      <vt:lpstr>Инструментарий (ITSM-системы)</vt:lpstr>
      <vt:lpstr>Метрики эффективности (KPIs)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технической поддержки пользователей</dc:title>
  <dc:creator>Никита Бакшилов</dc:creator>
  <cp:lastModifiedBy>Никита Бакшилов</cp:lastModifiedBy>
  <cp:revision>2</cp:revision>
  <dcterms:created xsi:type="dcterms:W3CDTF">2026-04-23T05:29:29Z</dcterms:created>
  <dcterms:modified xsi:type="dcterms:W3CDTF">2026-04-23T05:48:49Z</dcterms:modified>
</cp:coreProperties>
</file>