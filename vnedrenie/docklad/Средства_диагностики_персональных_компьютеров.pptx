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6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5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6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7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5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3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88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6A594-1920-4A2B-A945-59FCC0638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5000" dirty="0"/>
              <a:t>Средства диагностики персональных компьютеров</a:t>
            </a:r>
            <a:br>
              <a:rPr lang="ru-RU" sz="5000" dirty="0"/>
            </a:br>
            <a:endParaRPr lang="ru-RU" sz="5000" dirty="0"/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>
            <a:extLst>
              <a:ext uri="{FF2B5EF4-FFF2-40B4-BE49-F238E27FC236}">
                <a16:creationId xmlns:a16="http://schemas.microsoft.com/office/drawing/2014/main" id="{123C7E16-C86E-B4CF-3B7E-0CE506F7B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01" r="24188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8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D2C83-1245-4CC9-93AF-ED62DE25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967" y="-9075"/>
            <a:ext cx="10691265" cy="1307592"/>
          </a:xfrm>
        </p:spPr>
        <p:txBody>
          <a:bodyPr/>
          <a:lstStyle/>
          <a:p>
            <a:pPr algn="ctr"/>
            <a:r>
              <a:rPr lang="ru-RU" dirty="0"/>
              <a:t>Диагностика ПК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0CA1033-41FE-41EF-9FCD-4140E64032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8598" r="4209" b="14931"/>
          <a:stretch/>
        </p:blipFill>
        <p:spPr bwMode="auto">
          <a:xfrm>
            <a:off x="3507108" y="2221992"/>
            <a:ext cx="3782291" cy="173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F765AA-3AE9-4573-8A91-A64E54E30FB5}"/>
              </a:ext>
            </a:extLst>
          </p:cNvPr>
          <p:cNvSpPr/>
          <p:nvPr/>
        </p:nvSpPr>
        <p:spPr>
          <a:xfrm>
            <a:off x="3728424" y="1631228"/>
            <a:ext cx="3560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Предотвратить потерю данных 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B9C5D039-583E-4DA3-B9A4-60038D6ED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35" y="2586431"/>
            <a:ext cx="2353851" cy="206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49D5C1C-7A86-47D6-8EE0-21BE7383B4FF}"/>
              </a:ext>
            </a:extLst>
          </p:cNvPr>
          <p:cNvSpPr/>
          <p:nvPr/>
        </p:nvSpPr>
        <p:spPr>
          <a:xfrm>
            <a:off x="817904" y="1593253"/>
            <a:ext cx="20128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Сократить время простоя оборудования </a:t>
            </a:r>
            <a:endParaRPr lang="ru-RU" dirty="0"/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95ADB4C1-F730-4E02-A330-3DD54AE7A4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E1836E6-5181-4236-AA7B-1901BC56B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" t="24635" r="-1022" b="20788"/>
          <a:stretch/>
        </p:blipFill>
        <p:spPr bwMode="auto">
          <a:xfrm>
            <a:off x="7487964" y="2430516"/>
            <a:ext cx="4259283" cy="130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1669F1-2E90-433F-83B5-CC15CE95C0B9}"/>
              </a:ext>
            </a:extLst>
          </p:cNvPr>
          <p:cNvSpPr/>
          <p:nvPr/>
        </p:nvSpPr>
        <p:spPr>
          <a:xfrm>
            <a:off x="8503088" y="1631228"/>
            <a:ext cx="4160540" cy="672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Выявить «узкие места» производительности </a:t>
            </a:r>
            <a:endParaRPr lang="ru-RU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18587D82-0DCA-4FBB-8638-8C4286B22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037" y="4792716"/>
            <a:ext cx="3477126" cy="173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64F116-14F3-41F8-92E2-4EE373EBC4FB}"/>
              </a:ext>
            </a:extLst>
          </p:cNvPr>
          <p:cNvSpPr/>
          <p:nvPr/>
        </p:nvSpPr>
        <p:spPr>
          <a:xfrm>
            <a:off x="3089046" y="4256464"/>
            <a:ext cx="70916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Обосновать необходимость замены устаревшего оборудования 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4EBF9B-DBDC-4A84-96E7-93287E084396}"/>
              </a:ext>
            </a:extLst>
          </p:cNvPr>
          <p:cNvSpPr/>
          <p:nvPr/>
        </p:nvSpPr>
        <p:spPr>
          <a:xfrm>
            <a:off x="2771913" y="740560"/>
            <a:ext cx="6793013" cy="595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Качественная диагностика позволяет</a:t>
            </a:r>
            <a:r>
              <a:rPr lang="ru-RU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4023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E432A-54DC-40B7-8D98-0ABE6740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/>
              <a:t>Классификация средств диагностики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1488CF-D31A-4A64-93E9-4CB12204808E}"/>
              </a:ext>
            </a:extLst>
          </p:cNvPr>
          <p:cNvSpPr/>
          <p:nvPr/>
        </p:nvSpPr>
        <p:spPr>
          <a:xfrm>
            <a:off x="1111841" y="1771793"/>
            <a:ext cx="235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Аппаратные средства </a:t>
            </a:r>
            <a:endParaRPr lang="ru-RU" dirty="0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ED49BF12-3324-4723-AFEA-A12BB956B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35" y="2332477"/>
            <a:ext cx="3019770" cy="221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452033F1-FD44-4EC5-A462-CCFD9107A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271" y="2332477"/>
            <a:ext cx="3019771" cy="223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9C0174-5B55-4EF7-929D-4DCCC2AC9AC7}"/>
              </a:ext>
            </a:extLst>
          </p:cNvPr>
          <p:cNvSpPr/>
          <p:nvPr/>
        </p:nvSpPr>
        <p:spPr>
          <a:xfrm>
            <a:off x="4054797" y="1773120"/>
            <a:ext cx="3858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Встроенные средства ОС и BIOS/UEFI </a:t>
            </a:r>
            <a:endParaRPr lang="ru-RU" dirty="0"/>
          </a:p>
        </p:txBody>
      </p:sp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91B16EA2-2CB2-42D5-803A-1A76D649E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850" y="2486752"/>
            <a:ext cx="3517050" cy="176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70895-69E5-4740-ACD0-D7070C073660}"/>
              </a:ext>
            </a:extLst>
          </p:cNvPr>
          <p:cNvSpPr/>
          <p:nvPr/>
        </p:nvSpPr>
        <p:spPr>
          <a:xfrm>
            <a:off x="7912969" y="1771793"/>
            <a:ext cx="3974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Стороннее программное обеспечение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123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9F08C-6CF6-44A8-96E0-91E8D901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0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Аппаратные средства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E71E057-BCD1-4E48-B00C-A0CA636F4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133124"/>
              </p:ext>
            </p:extLst>
          </p:nvPr>
        </p:nvGraphicFramePr>
        <p:xfrm>
          <a:off x="3331029" y="1124033"/>
          <a:ext cx="5212385" cy="4061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5399">
                  <a:extLst>
                    <a:ext uri="{9D8B030D-6E8A-4147-A177-3AD203B41FA5}">
                      <a16:colId xmlns:a16="http://schemas.microsoft.com/office/drawing/2014/main" val="4290577439"/>
                    </a:ext>
                  </a:extLst>
                </a:gridCol>
                <a:gridCol w="1803493">
                  <a:extLst>
                    <a:ext uri="{9D8B030D-6E8A-4147-A177-3AD203B41FA5}">
                      <a16:colId xmlns:a16="http://schemas.microsoft.com/office/drawing/2014/main" val="3042977455"/>
                    </a:ext>
                  </a:extLst>
                </a:gridCol>
                <a:gridCol w="1803493">
                  <a:extLst>
                    <a:ext uri="{9D8B030D-6E8A-4147-A177-3AD203B41FA5}">
                      <a16:colId xmlns:a16="http://schemas.microsoft.com/office/drawing/2014/main" val="3549599731"/>
                    </a:ext>
                  </a:extLst>
                </a:gridCol>
              </a:tblGrid>
              <a:tr h="11376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POST-</a:t>
                      </a:r>
                      <a:r>
                        <a:rPr lang="ru-RU" sz="1000" dirty="0">
                          <a:effectLst/>
                        </a:rPr>
                        <a:t>карты</a:t>
                      </a:r>
                      <a:r>
                        <a:rPr lang="en-US" sz="1000" dirty="0">
                          <a:effectLst/>
                        </a:rPr>
                        <a:t> (PCI/PCI-E/LPC)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effectLst/>
                        </a:rPr>
                        <a:t>Платы, отображающие коды ошибок</a:t>
                      </a:r>
                      <a:endParaRPr lang="ru-RU" sz="1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effectLst/>
                        </a:rPr>
                        <a:t>POST (</a:t>
                      </a:r>
                      <a:r>
                        <a:rPr lang="ru-RU" sz="1000" b="0" dirty="0" err="1">
                          <a:solidFill>
                            <a:schemeClr val="tx1"/>
                          </a:solidFill>
                          <a:effectLst/>
                        </a:rPr>
                        <a:t>Power-On</a:t>
                      </a:r>
                      <a:r>
                        <a:rPr lang="ru-RU" sz="10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000" b="0" dirty="0" err="1">
                          <a:solidFill>
                            <a:schemeClr val="tx1"/>
                          </a:solidFill>
                          <a:effectLst/>
                        </a:rPr>
                        <a:t>Self-Test</a:t>
                      </a:r>
                      <a:r>
                        <a:rPr lang="ru-RU" sz="1000" b="0" dirty="0">
                          <a:solidFill>
                            <a:schemeClr val="tx1"/>
                          </a:solidFill>
                          <a:effectLst/>
                        </a:rPr>
                        <a:t>) — процедура самотестирования оборудования при включении ПК. PCI/PCI-E/LPC — типы интерфейсов/разъёмов на материнской плате для подключения устройств.</a:t>
                      </a:r>
                      <a:endParaRPr lang="ru-RU" sz="1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522351"/>
                  </a:ext>
                </a:extLst>
              </a:tr>
              <a:tr h="8105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Мультиметры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Проверка напряжений в блоке питания и на цепях материнской платы.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Мультиметр — электроизмерительный прибор, объединяющий функции вольтметра, амперметра и омметра.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extLst>
                  <a:ext uri="{0D108BD9-81ED-4DB2-BD59-A6C34878D82A}">
                    <a16:rowId xmlns:a16="http://schemas.microsoft.com/office/drawing/2014/main" val="999544667"/>
                  </a:ext>
                </a:extLst>
              </a:tr>
              <a:tr h="17919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Загрузочные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накопители</a:t>
                      </a:r>
                      <a:r>
                        <a:rPr lang="en-US" sz="1000" dirty="0">
                          <a:effectLst/>
                        </a:rPr>
                        <a:t> (Live USB)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Флешки с предустановленными средами восстановления, позволяющие запустить диагностику без установки ОС на диск.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</a:rPr>
                        <a:t>Live</a:t>
                      </a:r>
                      <a:r>
                        <a:rPr lang="ru-RU" sz="1000" dirty="0">
                          <a:effectLst/>
                        </a:rPr>
                        <a:t> USB — загрузочный накопитель с операционной системой, работающей в оперативной памяти. </a:t>
                      </a:r>
                      <a:r>
                        <a:rPr lang="ru-RU" sz="1000" dirty="0" err="1">
                          <a:effectLst/>
                        </a:rPr>
                        <a:t>WinPE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ru-RU" sz="1000" dirty="0">
                          <a:effectLst/>
                        </a:rPr>
                        <a:t>— облегчённая версия </a:t>
                      </a:r>
                      <a:r>
                        <a:rPr lang="ru-RU" sz="1000" dirty="0" err="1">
                          <a:effectLst/>
                        </a:rPr>
                        <a:t>Windows</a:t>
                      </a:r>
                      <a:r>
                        <a:rPr lang="ru-RU" sz="1000" dirty="0">
                          <a:effectLst/>
                        </a:rPr>
                        <a:t> для развёртывания и восстановления. </a:t>
                      </a:r>
                      <a:r>
                        <a:rPr lang="ru-RU" sz="1000" dirty="0" err="1">
                          <a:effectLst/>
                        </a:rPr>
                        <a:t>Linux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Live</a:t>
                      </a:r>
                      <a:r>
                        <a:rPr lang="ru-RU" sz="1000" dirty="0">
                          <a:effectLst/>
                        </a:rPr>
                        <a:t> — дистрибутив </a:t>
                      </a:r>
                      <a:r>
                        <a:rPr lang="ru-RU" sz="1000" dirty="0" err="1">
                          <a:effectLst/>
                        </a:rPr>
                        <a:t>Linux</a:t>
                      </a:r>
                      <a:r>
                        <a:rPr lang="ru-RU" sz="1000" dirty="0">
                          <a:effectLst/>
                        </a:rPr>
                        <a:t>, запускаемый без установки.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529" marR="62529" marT="0" marB="0"/>
                </a:tc>
                <a:extLst>
                  <a:ext uri="{0D108BD9-81ED-4DB2-BD59-A6C34878D82A}">
                    <a16:rowId xmlns:a16="http://schemas.microsoft.com/office/drawing/2014/main" val="2541092035"/>
                  </a:ext>
                </a:extLst>
              </a:tr>
            </a:tbl>
          </a:graphicData>
        </a:graphic>
      </p:graphicFrame>
      <p:pic>
        <p:nvPicPr>
          <p:cNvPr id="3074" name="Picture 2" descr="POST карта Мастер Кит BM9222 - отзывы покупателей на маркетплейсе Мегамаркет Арт">
            <a:extLst>
              <a:ext uri="{FF2B5EF4-FFF2-40B4-BE49-F238E27FC236}">
                <a16:creationId xmlns:a16="http://schemas.microsoft.com/office/drawing/2014/main" id="{B469D06D-7635-412A-8406-A2DC0B2F3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08" y="931224"/>
            <a:ext cx="1807028" cy="180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73AB26F-5672-461A-AF03-CC1B647E0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411" y="2543917"/>
            <a:ext cx="1573481" cy="8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38BA78C-4932-4E19-8C44-DEECE1F08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47" y="3477902"/>
            <a:ext cx="2503714" cy="155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11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C1722-C16A-4832-A6DB-E3568E4D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-89065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Встроенные средства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DA80E42-669E-454E-8090-5C6F9D1B1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63496"/>
              </p:ext>
            </p:extLst>
          </p:nvPr>
        </p:nvGraphicFramePr>
        <p:xfrm>
          <a:off x="3187247" y="346202"/>
          <a:ext cx="5591874" cy="65117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3958">
                  <a:extLst>
                    <a:ext uri="{9D8B030D-6E8A-4147-A177-3AD203B41FA5}">
                      <a16:colId xmlns:a16="http://schemas.microsoft.com/office/drawing/2014/main" val="2635062580"/>
                    </a:ext>
                  </a:extLst>
                </a:gridCol>
                <a:gridCol w="1863958">
                  <a:extLst>
                    <a:ext uri="{9D8B030D-6E8A-4147-A177-3AD203B41FA5}">
                      <a16:colId xmlns:a16="http://schemas.microsoft.com/office/drawing/2014/main" val="3168999066"/>
                    </a:ext>
                  </a:extLst>
                </a:gridCol>
                <a:gridCol w="1863958">
                  <a:extLst>
                    <a:ext uri="{9D8B030D-6E8A-4147-A177-3AD203B41FA5}">
                      <a16:colId xmlns:a16="http://schemas.microsoft.com/office/drawing/2014/main" val="3822760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Средство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Назначение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Расшифровка терминов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1238925923"/>
                  </a:ext>
                </a:extLst>
              </a:tr>
              <a:tr h="14895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BIOS/UEFI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Мониторинг температур, напряжений и скоростей вентиляторов в реальном времени.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B</a:t>
                      </a:r>
                      <a:r>
                        <a:rPr lang="ru-RU" sz="1000" dirty="0">
                          <a:effectLst/>
                        </a:rPr>
                        <a:t>IOS (</a:t>
                      </a:r>
                      <a:r>
                        <a:rPr lang="ru-RU" sz="1000" dirty="0" err="1">
                          <a:effectLst/>
                        </a:rPr>
                        <a:t>Basic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Input</a:t>
                      </a:r>
                      <a:r>
                        <a:rPr lang="ru-RU" sz="1000" dirty="0">
                          <a:effectLst/>
                        </a:rPr>
                        <a:t>/</a:t>
                      </a:r>
                      <a:r>
                        <a:rPr lang="ru-RU" sz="1000" dirty="0" err="1">
                          <a:effectLst/>
                        </a:rPr>
                        <a:t>Output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System</a:t>
                      </a:r>
                      <a:r>
                        <a:rPr lang="ru-RU" sz="1000" dirty="0">
                          <a:effectLst/>
                        </a:rPr>
                        <a:t>) — базовая система ввода-вывода, инициализирующая оборудование при старте. UEFI (</a:t>
                      </a:r>
                      <a:r>
                        <a:rPr lang="ru-RU" sz="1000" dirty="0" err="1">
                          <a:effectLst/>
                        </a:rPr>
                        <a:t>Unified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Extensible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Firmware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Interface</a:t>
                      </a:r>
                      <a:r>
                        <a:rPr lang="ru-RU" sz="1000" dirty="0">
                          <a:effectLst/>
                        </a:rPr>
                        <a:t>) — современный наследник BIOS с графическим интерфейсом и расширенными возможностями.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1708043177"/>
                  </a:ext>
                </a:extLst>
              </a:tr>
              <a:tr h="7416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Средство проверки памяти </a:t>
                      </a:r>
                      <a:r>
                        <a:rPr lang="ru-RU" sz="1050" dirty="0" err="1">
                          <a:effectLst/>
                        </a:rPr>
                        <a:t>Windows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Выявление ошибок оперативной памяти (RAM).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RAM (</a:t>
                      </a:r>
                      <a:r>
                        <a:rPr lang="ru-RU" sz="1050" dirty="0" err="1">
                          <a:effectLst/>
                        </a:rPr>
                        <a:t>Random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Access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Memory</a:t>
                      </a:r>
                      <a:r>
                        <a:rPr lang="ru-RU" sz="1050" dirty="0">
                          <a:effectLst/>
                        </a:rPr>
                        <a:t>) — оперативная память с произвольным доступом, энергозависимая память для временного хранения данных.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2257242264"/>
                  </a:ext>
                </a:extLst>
              </a:tr>
              <a:tr h="9909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CHKDSK (</a:t>
                      </a:r>
                      <a:r>
                        <a:rPr lang="ru-RU" sz="1050" dirty="0" err="1">
                          <a:effectLst/>
                        </a:rPr>
                        <a:t>Check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Disk</a:t>
                      </a:r>
                      <a:r>
                        <a:rPr lang="ru-RU" sz="1050" dirty="0">
                          <a:effectLst/>
                        </a:rPr>
                        <a:t>)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Проверка файловой системы и поверхности диска на логические и физические ошибки.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Файловая система — способ организации данных на накопителе (NTFS, FAT32, </a:t>
                      </a:r>
                      <a:r>
                        <a:rPr lang="ru-RU" sz="1050" dirty="0" err="1">
                          <a:effectLst/>
                        </a:rPr>
                        <a:t>exFAT</a:t>
                      </a:r>
                      <a:r>
                        <a:rPr lang="ru-RU" sz="1050" dirty="0">
                          <a:effectLst/>
                        </a:rPr>
                        <a:t>). Логические ошибки — нарушения структуры данных, физические ошибки — повреждения поверхности диска.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2186738889"/>
                  </a:ext>
                </a:extLst>
              </a:tr>
              <a:tr h="6170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Просмотр событий (</a:t>
                      </a:r>
                      <a:r>
                        <a:rPr lang="ru-RU" sz="1050" dirty="0" err="1">
                          <a:effectLst/>
                        </a:rPr>
                        <a:t>Event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Viewer</a:t>
                      </a:r>
                      <a:r>
                        <a:rPr lang="ru-RU" sz="1050" dirty="0">
                          <a:effectLst/>
                        </a:rPr>
                        <a:t>)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Анализ системных логов на наличие критических ошибок и предупреждений.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</a:rPr>
                        <a:t>Event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Log</a:t>
                      </a:r>
                      <a:r>
                        <a:rPr lang="ru-RU" sz="1000" dirty="0">
                          <a:effectLst/>
                        </a:rPr>
                        <a:t> — журнал событий </a:t>
                      </a:r>
                      <a:r>
                        <a:rPr lang="ru-RU" sz="1000" dirty="0" err="1">
                          <a:effectLst/>
                        </a:rPr>
                        <a:t>Windows</a:t>
                      </a:r>
                      <a:r>
                        <a:rPr lang="ru-RU" sz="1000" dirty="0">
                          <a:effectLst/>
                        </a:rPr>
                        <a:t>, фиксирующий работу системы, приложений и служб.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1397868813"/>
                  </a:ext>
                </a:extLst>
              </a:tr>
              <a:tr h="11156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SFC / DISM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Утилиты командной строки для проверки целостности системных файлов </a:t>
                      </a:r>
                      <a:r>
                        <a:rPr lang="ru-RU" sz="1050" dirty="0" err="1">
                          <a:effectLst/>
                        </a:rPr>
                        <a:t>Windows</a:t>
                      </a:r>
                      <a:r>
                        <a:rPr lang="ru-RU" sz="1050" dirty="0">
                          <a:effectLst/>
                        </a:rPr>
                        <a:t>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SFC (</a:t>
                      </a:r>
                      <a:r>
                        <a:rPr lang="ru-RU" sz="1050" dirty="0" err="1">
                          <a:effectLst/>
                        </a:rPr>
                        <a:t>System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File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Checker</a:t>
                      </a:r>
                      <a:r>
                        <a:rPr lang="ru-RU" sz="1050" dirty="0">
                          <a:effectLst/>
                        </a:rPr>
                        <a:t>) — проверка и восстановление защищённых системных файлов. DISM (</a:t>
                      </a:r>
                      <a:r>
                        <a:rPr lang="ru-RU" sz="1050" dirty="0" err="1">
                          <a:effectLst/>
                        </a:rPr>
                        <a:t>Deployment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Image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Servicing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and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Management</a:t>
                      </a:r>
                      <a:r>
                        <a:rPr lang="ru-RU" sz="1050" dirty="0">
                          <a:effectLst/>
                        </a:rPr>
                        <a:t>) — обслуживание образов системы, восстановление хранилища компонентов.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19" marR="36919" marT="0" marB="0"/>
                </a:tc>
                <a:extLst>
                  <a:ext uri="{0D108BD9-81ED-4DB2-BD59-A6C34878D82A}">
                    <a16:rowId xmlns:a16="http://schemas.microsoft.com/office/drawing/2014/main" val="484547247"/>
                  </a:ext>
                </a:extLst>
              </a:tr>
            </a:tbl>
          </a:graphicData>
        </a:graphic>
      </p:graphicFrame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3E54DEAB-A095-45C5-9EC5-7ED535309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692" y="832624"/>
            <a:ext cx="1774580" cy="131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410E8FC-53F9-4E70-AD00-637F11BA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99" y="2290466"/>
            <a:ext cx="1774580" cy="104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1F7C0404-C3D4-4F9D-ADF7-8642A8638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17" y="3340426"/>
            <a:ext cx="2112530" cy="123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8BE5FB27-F1B8-4A01-BD01-EAA7F0BF8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78" y="4399096"/>
            <a:ext cx="2211369" cy="96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D7333C21-8A14-4260-9DD2-4076E22F3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2" t="17768" r="21032" b="17489"/>
          <a:stretch/>
        </p:blipFill>
        <p:spPr bwMode="auto">
          <a:xfrm>
            <a:off x="1108593" y="5387327"/>
            <a:ext cx="2044778" cy="14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81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2FF80-2143-4CE2-B616-06274D49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82" y="95002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Стороннее программное обеспечение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2B76AD8-25D0-47D8-88CD-28AEB94E1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487250"/>
              </p:ext>
            </p:extLst>
          </p:nvPr>
        </p:nvGraphicFramePr>
        <p:xfrm>
          <a:off x="161925" y="1415775"/>
          <a:ext cx="5934075" cy="2498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3466792447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378827465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960309639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Утилита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Термины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23566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AIDA64 / </a:t>
                      </a:r>
                      <a:r>
                        <a:rPr lang="ru-RU" sz="1100" dirty="0" err="1">
                          <a:effectLst/>
                        </a:rPr>
                        <a:t>HWiNFO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Полная информация о конфигурации ПК, датчиках (температуры, вольтаж), стресс-тесты.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Датчики (Sensors) — аппаратные элементы, измеряющие физические параметры (температуру, напряжение). Стресс-тест — проверка системы под экстремальной нагрузкой.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799661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CPU-Z / GPU-Z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Детальная информация о процессоре и видеокарте.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CPU (Central Processing Unit) — </a:t>
                      </a:r>
                      <a:r>
                        <a:rPr lang="ru-RU" sz="1100" dirty="0">
                          <a:effectLst/>
                        </a:rPr>
                        <a:t>центральный процессор</a:t>
                      </a:r>
                      <a:r>
                        <a:rPr lang="en-US" sz="1100" dirty="0">
                          <a:effectLst/>
                        </a:rPr>
                        <a:t>. GPU (Graphics Processing Unit) — </a:t>
                      </a:r>
                      <a:r>
                        <a:rPr lang="ru-RU" sz="1100" dirty="0">
                          <a:effectLst/>
                        </a:rPr>
                        <a:t>графический процессор видеокарты</a:t>
                      </a:r>
                      <a:r>
                        <a:rPr lang="en-US" sz="1100" dirty="0">
                          <a:effectLst/>
                        </a:rPr>
                        <a:t>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2890031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2FA556-E12A-41BC-A007-D43236D5969F}"/>
              </a:ext>
            </a:extLst>
          </p:cNvPr>
          <p:cNvSpPr/>
          <p:nvPr/>
        </p:nvSpPr>
        <p:spPr>
          <a:xfrm>
            <a:off x="918853" y="928646"/>
            <a:ext cx="4212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Комплексная информация и мониторинг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2D1889E-B80D-49BF-A930-73BAA2FEF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948689"/>
              </p:ext>
            </p:extLst>
          </p:nvPr>
        </p:nvGraphicFramePr>
        <p:xfrm>
          <a:off x="8048063" y="1402594"/>
          <a:ext cx="3967725" cy="3740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2575">
                  <a:extLst>
                    <a:ext uri="{9D8B030D-6E8A-4147-A177-3AD203B41FA5}">
                      <a16:colId xmlns:a16="http://schemas.microsoft.com/office/drawing/2014/main" val="1584690306"/>
                    </a:ext>
                  </a:extLst>
                </a:gridCol>
                <a:gridCol w="1322575">
                  <a:extLst>
                    <a:ext uri="{9D8B030D-6E8A-4147-A177-3AD203B41FA5}">
                      <a16:colId xmlns:a16="http://schemas.microsoft.com/office/drawing/2014/main" val="2914735692"/>
                    </a:ext>
                  </a:extLst>
                </a:gridCol>
                <a:gridCol w="1322575">
                  <a:extLst>
                    <a:ext uri="{9D8B030D-6E8A-4147-A177-3AD203B41FA5}">
                      <a16:colId xmlns:a16="http://schemas.microsoft.com/office/drawing/2014/main" val="3318884385"/>
                    </a:ext>
                  </a:extLst>
                </a:gridCol>
              </a:tblGrid>
              <a:tr h="2776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Утилита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Назначение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Термины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extLst>
                  <a:ext uri="{0D108BD9-81ED-4DB2-BD59-A6C34878D82A}">
                    <a16:rowId xmlns:a16="http://schemas.microsoft.com/office/drawing/2014/main" val="1615151226"/>
                  </a:ext>
                </a:extLst>
              </a:tr>
              <a:tr h="13140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err="1">
                          <a:effectLst/>
                        </a:rPr>
                        <a:t>CrystalDiskInfo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Чтение S.M.A.R.T. атрибутов, оценка здоровья диска.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S.M.A.R.T. (Self-Monitoring, Analysis and Reporting Technology) — технология самодиагностики накопителей, отслеживающая параметры надёжности. Атрибуты S.M.A.R.T. — числовые показатели состояния диска (время наработки, количество ошибок и т.д.).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extLst>
                  <a:ext uri="{0D108BD9-81ED-4DB2-BD59-A6C34878D82A}">
                    <a16:rowId xmlns:a16="http://schemas.microsoft.com/office/drawing/2014/main" val="1659716067"/>
                  </a:ext>
                </a:extLst>
              </a:tr>
              <a:tr h="1673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err="1">
                          <a:effectLst/>
                        </a:rPr>
                        <a:t>Victoria</a:t>
                      </a:r>
                      <a:r>
                        <a:rPr lang="ru-RU" sz="700" dirty="0">
                          <a:effectLst/>
                        </a:rPr>
                        <a:t> / </a:t>
                      </a:r>
                      <a:r>
                        <a:rPr lang="ru-RU" sz="700" dirty="0" err="1">
                          <a:effectLst/>
                        </a:rPr>
                        <a:t>HDDScan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Глубокая проверка поверхности диска на наличие «битых» секторов, возможность ремэппинга (для HDD).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Bad Blocks (битые сектора) — участки диска, которые невозможно прочитать/записать. Ремэппинг (Remapping) — замена физического повреждённого сектора на резервный из специальной области диска. HDD (Hard Disk Drive) — жёсткий диск с магнитными пластинами. SSD (Solid State Drive) — твердотельный накопитель на флеш-памяти.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extLst>
                  <a:ext uri="{0D108BD9-81ED-4DB2-BD59-A6C34878D82A}">
                    <a16:rowId xmlns:a16="http://schemas.microsoft.com/office/drawing/2014/main" val="899432037"/>
                  </a:ext>
                </a:extLst>
              </a:tr>
              <a:tr h="4744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err="1">
                          <a:effectLst/>
                        </a:rPr>
                        <a:t>CrystalDiskMark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Тестирование скорости чтения/записи (актуально для выявления деградации SSD).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</a:rPr>
                        <a:t>Деградация SSD — постепенное снижение скорости и надёжности </a:t>
                      </a:r>
                      <a:r>
                        <a:rPr lang="ru-RU" sz="700" dirty="0" err="1">
                          <a:effectLst/>
                        </a:rPr>
                        <a:t>флеш</a:t>
                      </a:r>
                      <a:r>
                        <a:rPr lang="ru-RU" sz="700" dirty="0">
                          <a:effectLst/>
                        </a:rPr>
                        <a:t>-памяти из-за износа ячеек.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55" marR="45855" marT="0" marB="0"/>
                </a:tc>
                <a:extLst>
                  <a:ext uri="{0D108BD9-81ED-4DB2-BD59-A6C34878D82A}">
                    <a16:rowId xmlns:a16="http://schemas.microsoft.com/office/drawing/2014/main" val="901339117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25980E-4AF5-4FF2-AB41-B18D01EEC416}"/>
              </a:ext>
            </a:extLst>
          </p:cNvPr>
          <p:cNvSpPr/>
          <p:nvPr/>
        </p:nvSpPr>
        <p:spPr>
          <a:xfrm>
            <a:off x="8292496" y="928646"/>
            <a:ext cx="380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Диагностика накопителей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HDD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FC1C7B7-F869-406F-B5D8-0D02CCFD1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1" y="4009386"/>
            <a:ext cx="3447803" cy="211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48269A9-3FA7-4006-96CF-8A904091F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292" y="4138550"/>
            <a:ext cx="2584299" cy="1577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C5CAD0F-BA87-4814-A52E-639E42C38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326" y="1223158"/>
            <a:ext cx="1690146" cy="171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1BEF32ED-77FF-4F80-8B81-1E7C55EEE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794" y="2978727"/>
            <a:ext cx="1728474" cy="130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749BDF09-08C4-4EED-ACF9-41B0F9AC2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0" t="8404" r="23177" b="5937"/>
          <a:stretch/>
        </p:blipFill>
        <p:spPr bwMode="auto">
          <a:xfrm>
            <a:off x="6465475" y="4324914"/>
            <a:ext cx="1460997" cy="134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14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F44F48B-F054-4786-B7A8-8C90BF1E2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79592"/>
              </p:ext>
            </p:extLst>
          </p:nvPr>
        </p:nvGraphicFramePr>
        <p:xfrm>
          <a:off x="3191771" y="1347796"/>
          <a:ext cx="5934075" cy="23049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2793712427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62755155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4049010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Утилита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Термины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05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MemTest86+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Загружается с </a:t>
                      </a:r>
                      <a:r>
                        <a:rPr lang="ru-RU" sz="1100" dirty="0" err="1">
                          <a:effectLst/>
                        </a:rPr>
                        <a:t>флешки</a:t>
                      </a:r>
                      <a:r>
                        <a:rPr lang="ru-RU" sz="1100" dirty="0">
                          <a:effectLst/>
                        </a:rPr>
                        <a:t> до запуска ОС. Самый надёжный способ выявления ошибок RAM.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Pre-boot среда — среда, запускаемая до загрузки основной операционной системы, что позволяет тестировать память без помех со стороны ОС.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7062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TestMem5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Продвинутый тест памяти в среде </a:t>
                      </a:r>
                      <a:r>
                        <a:rPr lang="ru-RU" sz="1100" dirty="0" err="1">
                          <a:effectLst/>
                        </a:rPr>
                        <a:t>Windows</a:t>
                      </a:r>
                      <a:r>
                        <a:rPr lang="ru-RU" sz="1100" dirty="0">
                          <a:effectLst/>
                        </a:rPr>
                        <a:t>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Алгоритм теста — математическая последовательность операций записи/чтения для выявления ошибок в ячейках памяти.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6567287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F00ECA0-7325-4D22-BD85-58DF32BF7CE6}"/>
              </a:ext>
            </a:extLst>
          </p:cNvPr>
          <p:cNvSpPr/>
          <p:nvPr/>
        </p:nvSpPr>
        <p:spPr>
          <a:xfrm>
            <a:off x="4183641" y="887081"/>
            <a:ext cx="3522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Диагностика оперативной памяти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9144FFA-9423-40D3-B324-6841FE6E85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t="2176" r="5759"/>
          <a:stretch/>
        </p:blipFill>
        <p:spPr bwMode="auto">
          <a:xfrm>
            <a:off x="6679870" y="3741197"/>
            <a:ext cx="2445976" cy="201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0830F63B-6183-47F3-AB83-205448E6B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886" y="3792062"/>
            <a:ext cx="3286125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03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693444F-159B-4D78-8980-5621B2440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800772"/>
              </p:ext>
            </p:extLst>
          </p:nvPr>
        </p:nvGraphicFramePr>
        <p:xfrm>
          <a:off x="5828805" y="1626867"/>
          <a:ext cx="5934075" cy="39104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2472188965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598123893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655322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Утилита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Термины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919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Prime95 / </a:t>
                      </a:r>
                      <a:r>
                        <a:rPr lang="ru-RU" sz="1100" dirty="0" err="1">
                          <a:effectLst/>
                        </a:rPr>
                        <a:t>LinX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Нагрузка на процессор для проверки стабильности вычислений и системы охлаждения.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TDP (Thermal Design Power) — показатель тепловыделения процессора, определяющий требования к системе охлаждения. Троттлинг (Throttling) — автоматическое снижение частоты процессора при перегреве для защиты от повреждения.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9102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FurMark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Нагрузка на видеокарту («бублик») для проверки стабильности GPU и блока питания под пиковой нагрузкой.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Пиковая нагрузка (Peak Load) — максимальное энергопотребление системы в экстремальном режиме работы.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554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OCCT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Комбайн для тестирования CPU, GPU, памяти и блока питания с построением графиков.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Вольтаж (</a:t>
                      </a:r>
                      <a:r>
                        <a:rPr lang="ru-RU" sz="1100" dirty="0" err="1">
                          <a:effectLst/>
                        </a:rPr>
                        <a:t>Voltage</a:t>
                      </a:r>
                      <a:r>
                        <a:rPr lang="ru-RU" sz="1100" dirty="0">
                          <a:effectLst/>
                        </a:rPr>
                        <a:t>) — электрическое напряжение, подаваемое на компоненты. Нестабильное напряжение — частая причина сбоев.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2913967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028586-D91D-4776-96BB-9FEA6A256E04}"/>
              </a:ext>
            </a:extLst>
          </p:cNvPr>
          <p:cNvSpPr/>
          <p:nvPr/>
        </p:nvSpPr>
        <p:spPr>
          <a:xfrm>
            <a:off x="7109590" y="1166152"/>
            <a:ext cx="3778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Стресс-тестирование (Стабильность)</a:t>
            </a:r>
            <a:endParaRPr lang="ru-RU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7206D300-210F-407C-BAE3-32B1C3AA9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688" y="1323930"/>
            <a:ext cx="3148939" cy="177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64B326B-AA71-4F17-9460-61FD5CD7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573" y="3201513"/>
            <a:ext cx="2521527" cy="141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2B1C2000-D8E5-47A0-AD53-19797B8C4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905" y="4619872"/>
            <a:ext cx="2553195" cy="14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57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C889BBC-4E69-471F-B88B-1A8E14F1E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3330"/>
              </p:ext>
            </p:extLst>
          </p:nvPr>
        </p:nvGraphicFramePr>
        <p:xfrm>
          <a:off x="6194650" y="1343725"/>
          <a:ext cx="4975332" cy="43321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8444">
                  <a:extLst>
                    <a:ext uri="{9D8B030D-6E8A-4147-A177-3AD203B41FA5}">
                      <a16:colId xmlns:a16="http://schemas.microsoft.com/office/drawing/2014/main" val="3845823497"/>
                    </a:ext>
                  </a:extLst>
                </a:gridCol>
                <a:gridCol w="1658444">
                  <a:extLst>
                    <a:ext uri="{9D8B030D-6E8A-4147-A177-3AD203B41FA5}">
                      <a16:colId xmlns:a16="http://schemas.microsoft.com/office/drawing/2014/main" val="2526636060"/>
                    </a:ext>
                  </a:extLst>
                </a:gridCol>
                <a:gridCol w="1658444">
                  <a:extLst>
                    <a:ext uri="{9D8B030D-6E8A-4147-A177-3AD203B41FA5}">
                      <a16:colId xmlns:a16="http://schemas.microsoft.com/office/drawing/2014/main" val="1603433146"/>
                    </a:ext>
                  </a:extLst>
                </a:gridCol>
              </a:tblGrid>
              <a:tr h="16477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 err="1">
                          <a:effectLst/>
                        </a:rPr>
                        <a:t>Ping</a:t>
                      </a:r>
                      <a:r>
                        <a:rPr lang="ru-RU" sz="900" dirty="0">
                          <a:effectLst/>
                        </a:rPr>
                        <a:t> / </a:t>
                      </a:r>
                      <a:r>
                        <a:rPr lang="ru-RU" sz="900" dirty="0" err="1">
                          <a:effectLst/>
                        </a:rPr>
                        <a:t>Tracert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Базовые утилиты для проверки доступности узлов и маршрутизации.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Ping — проверка доступности узла в сети путём отправки ICMP-запросов. Tracert (Trace Route) — отслеживание маршрута пакета данных через цепочку сетевых устройств. ICMP (Internet Control Message Protocol) — протокол для передачи служебных сообщений в IP-сетях.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extLst>
                  <a:ext uri="{0D108BD9-81ED-4DB2-BD59-A6C34878D82A}">
                    <a16:rowId xmlns:a16="http://schemas.microsoft.com/office/drawing/2014/main" val="4087320435"/>
                  </a:ext>
                </a:extLst>
              </a:tr>
              <a:tr h="1118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 err="1">
                          <a:effectLst/>
                        </a:rPr>
                        <a:t>Wireshark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Анализ сетевого трафика для выявления проблем с пакетами или безопасностью.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Сетевой трафик — поток данных, передаваемых по сети. Пакет (Packet) — единица данных, передаваемая в сети.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extLst>
                  <a:ext uri="{0D108BD9-81ED-4DB2-BD59-A6C34878D82A}">
                    <a16:rowId xmlns:a16="http://schemas.microsoft.com/office/drawing/2014/main" val="4225752156"/>
                  </a:ext>
                </a:extLst>
              </a:tr>
              <a:tr h="13469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 err="1">
                          <a:effectLst/>
                        </a:rPr>
                        <a:t>Speedtest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Проверка реальной пропускной способности канала.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Пропускная способность (</a:t>
                      </a:r>
                      <a:r>
                        <a:rPr lang="ru-RU" sz="900" dirty="0" err="1">
                          <a:effectLst/>
                        </a:rPr>
                        <a:t>Bandwidth</a:t>
                      </a:r>
                      <a:r>
                        <a:rPr lang="ru-RU" sz="900" dirty="0">
                          <a:effectLst/>
                        </a:rPr>
                        <a:t>) — максимальный объём данных, который можно передать через канал связи за единицу времени. Пинг (</a:t>
                      </a:r>
                      <a:r>
                        <a:rPr lang="ru-RU" sz="900" dirty="0" err="1">
                          <a:effectLst/>
                        </a:rPr>
                        <a:t>Latency</a:t>
                      </a:r>
                      <a:r>
                        <a:rPr lang="ru-RU" sz="900" dirty="0">
                          <a:effectLst/>
                        </a:rPr>
                        <a:t>) — задержка в миллисекундах между отправкой запроса и получением ответа.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500" marR="57500" marT="0" marB="0"/>
                </a:tc>
                <a:extLst>
                  <a:ext uri="{0D108BD9-81ED-4DB2-BD59-A6C34878D82A}">
                    <a16:rowId xmlns:a16="http://schemas.microsoft.com/office/drawing/2014/main" val="151058803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61F6ED-A6EC-4AD2-8995-86F6E587F9CC}"/>
              </a:ext>
            </a:extLst>
          </p:cNvPr>
          <p:cNvSpPr/>
          <p:nvPr/>
        </p:nvSpPr>
        <p:spPr>
          <a:xfrm>
            <a:off x="7661209" y="851456"/>
            <a:ext cx="2225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Сетевая диагностика</a:t>
            </a:r>
            <a:endParaRPr lang="ru-RU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806AD570-CADD-4ADC-9AF7-C633ABEF0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248" y="2963106"/>
            <a:ext cx="2796951" cy="135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EE18F958-9B33-4B2B-B925-544A9648D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24" y="1442021"/>
            <a:ext cx="3100200" cy="138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7C527D04-B05C-4605-83B2-E0D270C49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7" t="10635" r="12457" b="24026"/>
          <a:stretch/>
        </p:blipFill>
        <p:spPr bwMode="auto">
          <a:xfrm>
            <a:off x="2023509" y="4512625"/>
            <a:ext cx="3691915" cy="168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50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A463D-58B2-4794-A1E3-3B02DFB92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99" y="0"/>
            <a:ext cx="10691265" cy="1307592"/>
          </a:xfrm>
        </p:spPr>
        <p:txBody>
          <a:bodyPr/>
          <a:lstStyle/>
          <a:p>
            <a:r>
              <a:rPr lang="ru-RU" dirty="0"/>
              <a:t>Алгоритм проведения диагностики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0A23E0-D67D-4AFC-AD6C-A0B89364667F}"/>
              </a:ext>
            </a:extLst>
          </p:cNvPr>
          <p:cNvSpPr/>
          <p:nvPr/>
        </p:nvSpPr>
        <p:spPr>
          <a:xfrm>
            <a:off x="1630346" y="972048"/>
            <a:ext cx="223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Опрос пользователя </a:t>
            </a:r>
            <a:endParaRPr lang="ru-RU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4BCCC8A2-4DBA-4B0B-BD88-22A87CE48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4275"/>
          <a:stretch/>
        </p:blipFill>
        <p:spPr bwMode="auto">
          <a:xfrm>
            <a:off x="8156366" y="1473956"/>
            <a:ext cx="255216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F8DCA7-75CD-4464-93A2-7092FAB2260A}"/>
              </a:ext>
            </a:extLst>
          </p:cNvPr>
          <p:cNvSpPr/>
          <p:nvPr/>
        </p:nvSpPr>
        <p:spPr>
          <a:xfrm>
            <a:off x="9077222" y="1080764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BSOD</a:t>
            </a:r>
            <a:endParaRPr lang="ru-RU" dirty="0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CAC0BDAF-7642-4834-A111-977325C2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42" y="4101883"/>
            <a:ext cx="3295934" cy="185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9186D6C3-F65D-4B19-AE46-14E9B9F70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361" y="1375167"/>
            <a:ext cx="2816896" cy="211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BDDFC8-F13D-4F11-B97F-E6A9E67F809B}"/>
              </a:ext>
            </a:extLst>
          </p:cNvPr>
          <p:cNvSpPr/>
          <p:nvPr/>
        </p:nvSpPr>
        <p:spPr>
          <a:xfrm>
            <a:off x="1622208" y="3609370"/>
            <a:ext cx="2187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Визуальный осмотр </a:t>
            </a:r>
            <a:endParaRPr lang="ru-RU" dirty="0"/>
          </a:p>
        </p:txBody>
      </p:sp>
      <p:pic>
        <p:nvPicPr>
          <p:cNvPr id="8202" name="Picture 10" descr="Picture background">
            <a:extLst>
              <a:ext uri="{FF2B5EF4-FFF2-40B4-BE49-F238E27FC236}">
                <a16:creationId xmlns:a16="http://schemas.microsoft.com/office/drawing/2014/main" id="{CE4269AB-096B-4741-9D10-7A8380039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974" y="3996508"/>
            <a:ext cx="3057896" cy="190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ACA2F7-20B6-4859-A3B1-90BAD5A1E6F3}"/>
              </a:ext>
            </a:extLst>
          </p:cNvPr>
          <p:cNvSpPr/>
          <p:nvPr/>
        </p:nvSpPr>
        <p:spPr>
          <a:xfrm>
            <a:off x="8525020" y="3555245"/>
            <a:ext cx="1455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Конденсатор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86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F84D6-1C72-4DFC-8C4A-37FBF3D9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97" y="112816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Программный анализ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E89F3DA-101F-4E09-8EED-F2C2B386C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272" y="1284882"/>
            <a:ext cx="3806050" cy="206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94956E-9855-4F29-97BB-B9EE13DAAB0A}"/>
              </a:ext>
            </a:extLst>
          </p:cNvPr>
          <p:cNvSpPr/>
          <p:nvPr/>
        </p:nvSpPr>
        <p:spPr>
          <a:xfrm>
            <a:off x="1104428" y="934583"/>
            <a:ext cx="3974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журналов событий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Windows</a:t>
            </a:r>
            <a:endParaRPr lang="ru-RU" dirty="0"/>
          </a:p>
        </p:txBody>
      </p:sp>
      <p:pic>
        <p:nvPicPr>
          <p:cNvPr id="12292" name="Picture 4" descr="Picture background">
            <a:extLst>
              <a:ext uri="{FF2B5EF4-FFF2-40B4-BE49-F238E27FC236}">
                <a16:creationId xmlns:a16="http://schemas.microsoft.com/office/drawing/2014/main" id="{C1BAED94-51CA-4C7D-8881-2F94D413B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792" y="1255745"/>
            <a:ext cx="3330870" cy="211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E2F144-5E77-47E4-9BF0-37BB5477FF6E}"/>
              </a:ext>
            </a:extLst>
          </p:cNvPr>
          <p:cNvSpPr/>
          <p:nvPr/>
        </p:nvSpPr>
        <p:spPr>
          <a:xfrm>
            <a:off x="7113345" y="934583"/>
            <a:ext cx="270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Сканирование на вирусы </a:t>
            </a:r>
            <a:endParaRPr lang="ru-RU" dirty="0"/>
          </a:p>
        </p:txBody>
      </p:sp>
      <p:pic>
        <p:nvPicPr>
          <p:cNvPr id="12294" name="Picture 6" descr="Picture background">
            <a:extLst>
              <a:ext uri="{FF2B5EF4-FFF2-40B4-BE49-F238E27FC236}">
                <a16:creationId xmlns:a16="http://schemas.microsoft.com/office/drawing/2014/main" id="{5501E68B-9EB8-41BB-AC61-DD150691A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179" y="4352307"/>
            <a:ext cx="3574080" cy="144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FD8E9A-20A4-4DD9-A214-1157A15D1BFE}"/>
              </a:ext>
            </a:extLst>
          </p:cNvPr>
          <p:cNvSpPr/>
          <p:nvPr/>
        </p:nvSpPr>
        <p:spPr>
          <a:xfrm>
            <a:off x="4212133" y="3838099"/>
            <a:ext cx="351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обновлений драйверов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286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7D751-8665-43C7-B15F-030D2205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83127"/>
            <a:ext cx="10691265" cy="130759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Особенности диагностики при внедрении систем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992E6FC-DDD6-42D3-9E75-D33C347BC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74637"/>
              </p:ext>
            </p:extLst>
          </p:nvPr>
        </p:nvGraphicFramePr>
        <p:xfrm>
          <a:off x="1520041" y="1473404"/>
          <a:ext cx="4807737" cy="42262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3613">
                  <a:extLst>
                    <a:ext uri="{9D8B030D-6E8A-4147-A177-3AD203B41FA5}">
                      <a16:colId xmlns:a16="http://schemas.microsoft.com/office/drawing/2014/main" val="203060521"/>
                    </a:ext>
                  </a:extLst>
                </a:gridCol>
                <a:gridCol w="1597062">
                  <a:extLst>
                    <a:ext uri="{9D8B030D-6E8A-4147-A177-3AD203B41FA5}">
                      <a16:colId xmlns:a16="http://schemas.microsoft.com/office/drawing/2014/main" val="468739825"/>
                    </a:ext>
                  </a:extLst>
                </a:gridCol>
                <a:gridCol w="1597062">
                  <a:extLst>
                    <a:ext uri="{9D8B030D-6E8A-4147-A177-3AD203B41FA5}">
                      <a16:colId xmlns:a16="http://schemas.microsoft.com/office/drawing/2014/main" val="4218555202"/>
                    </a:ext>
                  </a:extLst>
                </a:gridCol>
              </a:tblGrid>
              <a:tr h="1384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Метод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Описание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Термины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extLst>
                  <a:ext uri="{0D108BD9-81ED-4DB2-BD59-A6C34878D82A}">
                    <a16:rowId xmlns:a16="http://schemas.microsoft.com/office/drawing/2014/main" val="3127793185"/>
                  </a:ext>
                </a:extLst>
              </a:tr>
              <a:tr h="15868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 err="1">
                          <a:effectLst/>
                        </a:rPr>
                        <a:t>Burn-in</a:t>
                      </a:r>
                      <a:r>
                        <a:rPr lang="ru-RU" sz="900" dirty="0">
                          <a:effectLst/>
                        </a:rPr>
                        <a:t> тестирование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Новое оборудование рекомендуется прогнать под нагрузкой (24–72 часа) перед выдачей пользователю, чтобы выявить «детские болезни» компонентов.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Burn-in — «прожиг», продолжительное тестирование оборудования под нагрузкой для выявления ранних отказов. Infant Mortality (детские болезни) — статистический термин, описывающий повышенный риск отказа новых компонентов в первые часы работы.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extLst>
                  <a:ext uri="{0D108BD9-81ED-4DB2-BD59-A6C34878D82A}">
                    <a16:rowId xmlns:a16="http://schemas.microsoft.com/office/drawing/2014/main" val="441330471"/>
                  </a:ext>
                </a:extLst>
              </a:tr>
              <a:tr h="10074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Бенчмаркинг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Фиксация показателей производительности «на старте» для сравнения в будущем (базовая линия).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Бенчмарк (Benchmark) — эталонный тест производительности. Baseline (базовая линия) — зафиксированные нормативные показатели для последующего сравнения.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extLst>
                  <a:ext uri="{0D108BD9-81ED-4DB2-BD59-A6C34878D82A}">
                    <a16:rowId xmlns:a16="http://schemas.microsoft.com/office/drawing/2014/main" val="3987299778"/>
                  </a:ext>
                </a:extLst>
              </a:tr>
              <a:tr h="10074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Совместимость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Проверка работы специфического ПО заказчика на новом «железе».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Совместимость (</a:t>
                      </a:r>
                      <a:r>
                        <a:rPr lang="ru-RU" sz="900" dirty="0" err="1">
                          <a:effectLst/>
                        </a:rPr>
                        <a:t>Compatibility</a:t>
                      </a:r>
                      <a:r>
                        <a:rPr lang="ru-RU" sz="900" dirty="0">
                          <a:effectLst/>
                        </a:rPr>
                        <a:t>) — способность оборудования и ПО корректно работать совместно. </a:t>
                      </a:r>
                      <a:r>
                        <a:rPr lang="ru-RU" sz="900" dirty="0" err="1">
                          <a:effectLst/>
                        </a:rPr>
                        <a:t>Legacy</a:t>
                      </a:r>
                      <a:r>
                        <a:rPr lang="ru-RU" sz="900" dirty="0">
                          <a:effectLst/>
                        </a:rPr>
                        <a:t> ПО — устаревшее программное обеспечение, требующее особых условий для работы.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72" marR="55372" marT="0" marB="0"/>
                </a:tc>
                <a:extLst>
                  <a:ext uri="{0D108BD9-81ED-4DB2-BD59-A6C34878D82A}">
                    <a16:rowId xmlns:a16="http://schemas.microsoft.com/office/drawing/2014/main" val="1803829536"/>
                  </a:ext>
                </a:extLst>
              </a:tr>
            </a:tbl>
          </a:graphicData>
        </a:graphic>
      </p:graphicFrame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E5A5381C-9318-43C2-98C6-48856E1EB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568" y="951478"/>
            <a:ext cx="3043362" cy="207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218ED93-CD96-4E86-BEAD-E414EF961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542" y="2771409"/>
            <a:ext cx="2735415" cy="165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Picture background">
            <a:extLst>
              <a:ext uri="{FF2B5EF4-FFF2-40B4-BE49-F238E27FC236}">
                <a16:creationId xmlns:a16="http://schemas.microsoft.com/office/drawing/2014/main" id="{ECD36F6B-20AC-4637-93A7-F0E364ACC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542" y="4310254"/>
            <a:ext cx="2735416" cy="179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31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F791B-F8BE-4674-AB84-D77838EB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43" y="0"/>
            <a:ext cx="10691265" cy="1307592"/>
          </a:xfrm>
        </p:spPr>
        <p:txBody>
          <a:bodyPr/>
          <a:lstStyle/>
          <a:p>
            <a:pPr algn="ctr"/>
            <a:r>
              <a:rPr lang="ru-RU" dirty="0"/>
              <a:t>Дистанционная диагностика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24E4CCA-3641-4B81-B584-BCD450CC8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23397"/>
              </p:ext>
            </p:extLst>
          </p:nvPr>
        </p:nvGraphicFramePr>
        <p:xfrm>
          <a:off x="5173143" y="1205489"/>
          <a:ext cx="5934075" cy="4237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2855108197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67367420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4235373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Инструмент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Термины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1104168"/>
                  </a:ext>
                </a:extLst>
              </a:tr>
              <a:tr h="3873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TeamViewer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AnyDesk</a:t>
                      </a:r>
                      <a:r>
                        <a:rPr lang="ru-RU" sz="1100" dirty="0">
                          <a:effectLst/>
                        </a:rPr>
                        <a:t>, RDP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Удалённый доступ к рабочему столу пользователя для визуальной диагностики и настройки.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RDP (Remote Desktop Protocol) — протокол удалённого рабочего стола Microsoft.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5734169"/>
                  </a:ext>
                </a:extLst>
              </a:tr>
              <a:tr h="1752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SCCM, </a:t>
                      </a:r>
                      <a:r>
                        <a:rPr lang="ru-RU" sz="1100" dirty="0" err="1">
                          <a:effectLst/>
                        </a:rPr>
                        <a:t>Intune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Централизованное управление корпоративными ПК: сбор логов, удалённый запуск скриптов, инвентаризация.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MDM (Mobile Device Management) — управление мобильными устройствами и ПК в корпоративной среде.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139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IPMI / </a:t>
                      </a:r>
                      <a:r>
                        <a:rPr lang="ru-RU" sz="1100" dirty="0" err="1">
                          <a:effectLst/>
                        </a:rPr>
                        <a:t>iDRAC</a:t>
                      </a:r>
                      <a:r>
                        <a:rPr lang="ru-RU" sz="1100" dirty="0">
                          <a:effectLst/>
                        </a:rPr>
                        <a:t> / </a:t>
                      </a:r>
                      <a:r>
                        <a:rPr lang="ru-RU" sz="1100" dirty="0" err="1">
                          <a:effectLst/>
                        </a:rPr>
                        <a:t>iLO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Аппаратные интерфейсы удалённого управления серверами, позволяющие контролировать питание, температуры, логи даже при выключенной ОС.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IPMI (</a:t>
                      </a:r>
                      <a:r>
                        <a:rPr lang="ru-RU" sz="1100" dirty="0" err="1">
                          <a:effectLst/>
                        </a:rPr>
                        <a:t>Intelligent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Platform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Management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Interface</a:t>
                      </a:r>
                      <a:r>
                        <a:rPr lang="ru-RU" sz="1100" dirty="0">
                          <a:effectLst/>
                        </a:rPr>
                        <a:t>) — стандарт аппаратного управления сервером. </a:t>
                      </a:r>
                      <a:r>
                        <a:rPr lang="ru-RU" sz="1100" dirty="0" err="1">
                          <a:effectLst/>
                        </a:rPr>
                        <a:t>iDRAC</a:t>
                      </a:r>
                      <a:r>
                        <a:rPr lang="ru-RU" sz="1100" dirty="0">
                          <a:effectLst/>
                        </a:rPr>
                        <a:t> (</a:t>
                      </a:r>
                      <a:r>
                        <a:rPr lang="ru-RU" sz="1100" dirty="0" err="1">
                          <a:effectLst/>
                        </a:rPr>
                        <a:t>Dell</a:t>
                      </a:r>
                      <a:r>
                        <a:rPr lang="ru-RU" sz="1100" dirty="0">
                          <a:effectLst/>
                        </a:rPr>
                        <a:t>), </a:t>
                      </a:r>
                      <a:r>
                        <a:rPr lang="ru-RU" sz="1100" dirty="0" err="1">
                          <a:effectLst/>
                        </a:rPr>
                        <a:t>iLO</a:t>
                      </a:r>
                      <a:r>
                        <a:rPr lang="ru-RU" sz="1100" dirty="0">
                          <a:effectLst/>
                        </a:rPr>
                        <a:t> (HPE) — проприетарные реализации IPMI от производителей серверов.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106764"/>
                  </a:ext>
                </a:extLst>
              </a:tr>
            </a:tbl>
          </a:graphicData>
        </a:graphic>
      </p:graphicFrame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B86D1038-E3A8-4098-BF15-C2924997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68" y="712520"/>
            <a:ext cx="2355767" cy="165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cture background">
            <a:extLst>
              <a:ext uri="{FF2B5EF4-FFF2-40B4-BE49-F238E27FC236}">
                <a16:creationId xmlns:a16="http://schemas.microsoft.com/office/drawing/2014/main" id="{234B2162-FD86-4DFA-95C0-8EECADBF0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40" y="2344147"/>
            <a:ext cx="3484493" cy="196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icture background">
            <a:extLst>
              <a:ext uri="{FF2B5EF4-FFF2-40B4-BE49-F238E27FC236}">
                <a16:creationId xmlns:a16="http://schemas.microsoft.com/office/drawing/2014/main" id="{E1EF0C82-8275-43B9-BD43-0A8E14E3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648" y="4367449"/>
            <a:ext cx="3212275" cy="158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51371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1252</Words>
  <Application>Microsoft Office PowerPoint</Application>
  <PresentationFormat>Широкоэкранный</PresentationFormat>
  <Paragraphs>132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Calisto MT</vt:lpstr>
      <vt:lpstr>Univers Condensed</vt:lpstr>
      <vt:lpstr>ChronicleVTI</vt:lpstr>
      <vt:lpstr>Средства диагностики персональных компьютеров </vt:lpstr>
      <vt:lpstr>Диагностика ПК</vt:lpstr>
      <vt:lpstr>Классификация средств диагностики</vt:lpstr>
      <vt:lpstr>Аппаратные средства</vt:lpstr>
      <vt:lpstr>Встроенные средства </vt:lpstr>
      <vt:lpstr>Стороннее программное обеспечение</vt:lpstr>
      <vt:lpstr>Презентация PowerPoint</vt:lpstr>
      <vt:lpstr>Презентация PowerPoint</vt:lpstr>
      <vt:lpstr>Презентация PowerPoint</vt:lpstr>
      <vt:lpstr>Алгоритм проведения диагностики</vt:lpstr>
      <vt:lpstr>Программный анализ</vt:lpstr>
      <vt:lpstr>Особенности диагностики при внедрении систем </vt:lpstr>
      <vt:lpstr>Дистанционная диагностика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Средства диагностики персональных компьютеров</dc:title>
  <dc:creator>Никита Бакшилов</dc:creator>
  <cp:lastModifiedBy>Никита Бакшилов</cp:lastModifiedBy>
  <cp:revision>10</cp:revision>
  <dcterms:created xsi:type="dcterms:W3CDTF">2026-02-24T08:39:48Z</dcterms:created>
  <dcterms:modified xsi:type="dcterms:W3CDTF">2026-02-24T09:25:17Z</dcterms:modified>
</cp:coreProperties>
</file>